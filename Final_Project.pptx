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7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EC246C8-7E62-4257-A7EB-6476B68DB9B7}" v="40" dt="2026-05-07T14:18:35.8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jana A" userId="1055127d7e9cf8e4" providerId="LiveId" clId="{EDE53CE0-D237-4859-BC17-086AB47A71B3}"/>
    <pc:docChg chg="undo custSel addSld delSld modSld sldOrd">
      <pc:chgData name="Anjana A" userId="1055127d7e9cf8e4" providerId="LiveId" clId="{EDE53CE0-D237-4859-BC17-086AB47A71B3}" dt="2026-05-08T11:43:26.822" v="720" actId="115"/>
      <pc:docMkLst>
        <pc:docMk/>
      </pc:docMkLst>
      <pc:sldChg chg="modSp mod">
        <pc:chgData name="Anjana A" userId="1055127d7e9cf8e4" providerId="LiveId" clId="{EDE53CE0-D237-4859-BC17-086AB47A71B3}" dt="2026-05-07T13:36:37.632" v="384" actId="20577"/>
        <pc:sldMkLst>
          <pc:docMk/>
          <pc:sldMk cId="3131382720" sldId="256"/>
        </pc:sldMkLst>
        <pc:spChg chg="mod">
          <ac:chgData name="Anjana A" userId="1055127d7e9cf8e4" providerId="LiveId" clId="{EDE53CE0-D237-4859-BC17-086AB47A71B3}" dt="2026-05-07T13:36:37.632" v="384" actId="20577"/>
          <ac:spMkLst>
            <pc:docMk/>
            <pc:sldMk cId="3131382720" sldId="256"/>
            <ac:spMk id="10" creationId="{4060AF2D-B709-86B3-8BE5-4C55AF595DAD}"/>
          </ac:spMkLst>
        </pc:spChg>
      </pc:sldChg>
      <pc:sldChg chg="modSp mod">
        <pc:chgData name="Anjana A" userId="1055127d7e9cf8e4" providerId="LiveId" clId="{EDE53CE0-D237-4859-BC17-086AB47A71B3}" dt="2026-05-07T14:17:56.997" v="688" actId="20577"/>
        <pc:sldMkLst>
          <pc:docMk/>
          <pc:sldMk cId="3949452517" sldId="257"/>
        </pc:sldMkLst>
        <pc:spChg chg="mod">
          <ac:chgData name="Anjana A" userId="1055127d7e9cf8e4" providerId="LiveId" clId="{EDE53CE0-D237-4859-BC17-086AB47A71B3}" dt="2026-05-07T14:17:56.997" v="688" actId="20577"/>
          <ac:spMkLst>
            <pc:docMk/>
            <pc:sldMk cId="3949452517" sldId="257"/>
            <ac:spMk id="3" creationId="{1234B32A-5038-0059-8B7A-C8A579586C89}"/>
          </ac:spMkLst>
        </pc:spChg>
      </pc:sldChg>
      <pc:sldChg chg="modSp mod">
        <pc:chgData name="Anjana A" userId="1055127d7e9cf8e4" providerId="LiveId" clId="{EDE53CE0-D237-4859-BC17-086AB47A71B3}" dt="2026-05-07T14:09:20.897" v="623" actId="113"/>
        <pc:sldMkLst>
          <pc:docMk/>
          <pc:sldMk cId="1372636953" sldId="258"/>
        </pc:sldMkLst>
        <pc:spChg chg="mod">
          <ac:chgData name="Anjana A" userId="1055127d7e9cf8e4" providerId="LiveId" clId="{EDE53CE0-D237-4859-BC17-086AB47A71B3}" dt="2026-05-07T14:09:20.897" v="623" actId="113"/>
          <ac:spMkLst>
            <pc:docMk/>
            <pc:sldMk cId="1372636953" sldId="258"/>
            <ac:spMk id="3" creationId="{E2EABF8F-0995-35DA-67C8-4FAAFBAE9E32}"/>
          </ac:spMkLst>
        </pc:spChg>
      </pc:sldChg>
      <pc:sldChg chg="modSp mod">
        <pc:chgData name="Anjana A" userId="1055127d7e9cf8e4" providerId="LiveId" clId="{EDE53CE0-D237-4859-BC17-086AB47A71B3}" dt="2026-05-07T14:09:42.484" v="627" actId="1076"/>
        <pc:sldMkLst>
          <pc:docMk/>
          <pc:sldMk cId="2632694735" sldId="259"/>
        </pc:sldMkLst>
        <pc:spChg chg="mod">
          <ac:chgData name="Anjana A" userId="1055127d7e9cf8e4" providerId="LiveId" clId="{EDE53CE0-D237-4859-BC17-086AB47A71B3}" dt="2026-05-07T14:09:42.484" v="627" actId="1076"/>
          <ac:spMkLst>
            <pc:docMk/>
            <pc:sldMk cId="2632694735" sldId="259"/>
            <ac:spMk id="2" creationId="{5B66BE35-9054-324B-9500-EF29289D11DF}"/>
          </ac:spMkLst>
        </pc:spChg>
        <pc:spChg chg="mod">
          <ac:chgData name="Anjana A" userId="1055127d7e9cf8e4" providerId="LiveId" clId="{EDE53CE0-D237-4859-BC17-086AB47A71B3}" dt="2026-05-07T14:09:36.283" v="626" actId="1076"/>
          <ac:spMkLst>
            <pc:docMk/>
            <pc:sldMk cId="2632694735" sldId="259"/>
            <ac:spMk id="3" creationId="{DFE5595B-6CAD-2DBD-4659-09495950D1E7}"/>
          </ac:spMkLst>
        </pc:spChg>
      </pc:sldChg>
      <pc:sldChg chg="delSp modSp new mod">
        <pc:chgData name="Anjana A" userId="1055127d7e9cf8e4" providerId="LiveId" clId="{EDE53CE0-D237-4859-BC17-086AB47A71B3}" dt="2026-05-06T18:30:54.126" v="212" actId="207"/>
        <pc:sldMkLst>
          <pc:docMk/>
          <pc:sldMk cId="3716301686" sldId="261"/>
        </pc:sldMkLst>
        <pc:spChg chg="mod">
          <ac:chgData name="Anjana A" userId="1055127d7e9cf8e4" providerId="LiveId" clId="{EDE53CE0-D237-4859-BC17-086AB47A71B3}" dt="2026-05-06T18:30:54.126" v="212" actId="207"/>
          <ac:spMkLst>
            <pc:docMk/>
            <pc:sldMk cId="3716301686" sldId="261"/>
            <ac:spMk id="2" creationId="{B4032519-6B76-8BDF-BFFE-71990A195FCA}"/>
          </ac:spMkLst>
        </pc:spChg>
      </pc:sldChg>
      <pc:sldChg chg="addSp modSp new mod">
        <pc:chgData name="Anjana A" userId="1055127d7e9cf8e4" providerId="LiveId" clId="{EDE53CE0-D237-4859-BC17-086AB47A71B3}" dt="2026-05-06T18:27:20.469" v="185" actId="1076"/>
        <pc:sldMkLst>
          <pc:docMk/>
          <pc:sldMk cId="708501452" sldId="262"/>
        </pc:sldMkLst>
        <pc:spChg chg="mod">
          <ac:chgData name="Anjana A" userId="1055127d7e9cf8e4" providerId="LiveId" clId="{EDE53CE0-D237-4859-BC17-086AB47A71B3}" dt="2026-05-06T18:27:20.469" v="185" actId="1076"/>
          <ac:spMkLst>
            <pc:docMk/>
            <pc:sldMk cId="708501452" sldId="262"/>
            <ac:spMk id="2" creationId="{9CFBB5C1-D322-FE2F-08C6-FD4520C38FED}"/>
          </ac:spMkLst>
        </pc:spChg>
        <pc:spChg chg="mod">
          <ac:chgData name="Anjana A" userId="1055127d7e9cf8e4" providerId="LiveId" clId="{EDE53CE0-D237-4859-BC17-086AB47A71B3}" dt="2026-05-06T18:27:09.052" v="180" actId="14100"/>
          <ac:spMkLst>
            <pc:docMk/>
            <pc:sldMk cId="708501452" sldId="262"/>
            <ac:spMk id="3" creationId="{CB841EAA-BDA4-9EAB-5DC4-88C972A6A088}"/>
          </ac:spMkLst>
        </pc:spChg>
      </pc:sldChg>
      <pc:sldChg chg="addSp modSp new mod">
        <pc:chgData name="Anjana A" userId="1055127d7e9cf8e4" providerId="LiveId" clId="{EDE53CE0-D237-4859-BC17-086AB47A71B3}" dt="2026-05-06T18:27:00.928" v="179" actId="14100"/>
        <pc:sldMkLst>
          <pc:docMk/>
          <pc:sldMk cId="3408917560" sldId="263"/>
        </pc:sldMkLst>
        <pc:spChg chg="mod">
          <ac:chgData name="Anjana A" userId="1055127d7e9cf8e4" providerId="LiveId" clId="{EDE53CE0-D237-4859-BC17-086AB47A71B3}" dt="2026-05-06T18:27:00.928" v="179" actId="14100"/>
          <ac:spMkLst>
            <pc:docMk/>
            <pc:sldMk cId="3408917560" sldId="263"/>
            <ac:spMk id="2" creationId="{005A1D87-0AB5-6859-B04D-005CA999B8AB}"/>
          </ac:spMkLst>
        </pc:spChg>
        <pc:spChg chg="mod">
          <ac:chgData name="Anjana A" userId="1055127d7e9cf8e4" providerId="LiveId" clId="{EDE53CE0-D237-4859-BC17-086AB47A71B3}" dt="2026-05-06T18:26:54.885" v="178" actId="14100"/>
          <ac:spMkLst>
            <pc:docMk/>
            <pc:sldMk cId="3408917560" sldId="263"/>
            <ac:spMk id="3" creationId="{1BA6F5BA-1080-353C-2779-1259F82AF6A0}"/>
          </ac:spMkLst>
        </pc:spChg>
      </pc:sldChg>
      <pc:sldChg chg="addSp modSp new mod">
        <pc:chgData name="Anjana A" userId="1055127d7e9cf8e4" providerId="LiveId" clId="{EDE53CE0-D237-4859-BC17-086AB47A71B3}" dt="2026-05-08T11:43:26.822" v="720" actId="115"/>
        <pc:sldMkLst>
          <pc:docMk/>
          <pc:sldMk cId="1678086260" sldId="264"/>
        </pc:sldMkLst>
        <pc:spChg chg="mod">
          <ac:chgData name="Anjana A" userId="1055127d7e9cf8e4" providerId="LiveId" clId="{EDE53CE0-D237-4859-BC17-086AB47A71B3}" dt="2026-05-06T18:26:48.730" v="177" actId="14100"/>
          <ac:spMkLst>
            <pc:docMk/>
            <pc:sldMk cId="1678086260" sldId="264"/>
            <ac:spMk id="2" creationId="{C4E8C458-5A08-992E-6F10-D76DDB6A4145}"/>
          </ac:spMkLst>
        </pc:spChg>
        <pc:spChg chg="mod">
          <ac:chgData name="Anjana A" userId="1055127d7e9cf8e4" providerId="LiveId" clId="{EDE53CE0-D237-4859-BC17-086AB47A71B3}" dt="2026-05-08T11:43:26.822" v="720" actId="115"/>
          <ac:spMkLst>
            <pc:docMk/>
            <pc:sldMk cId="1678086260" sldId="264"/>
            <ac:spMk id="3" creationId="{E405B931-6D2D-0401-85CD-236BE67848EA}"/>
          </ac:spMkLst>
        </pc:spChg>
      </pc:sldChg>
      <pc:sldChg chg="modSp new mod">
        <pc:chgData name="Anjana A" userId="1055127d7e9cf8e4" providerId="LiveId" clId="{EDE53CE0-D237-4859-BC17-086AB47A71B3}" dt="2026-05-07T17:19:41.062" v="715" actId="20577"/>
        <pc:sldMkLst>
          <pc:docMk/>
          <pc:sldMk cId="687369901" sldId="265"/>
        </pc:sldMkLst>
        <pc:spChg chg="mod">
          <ac:chgData name="Anjana A" userId="1055127d7e9cf8e4" providerId="LiveId" clId="{EDE53CE0-D237-4859-BC17-086AB47A71B3}" dt="2026-05-06T18:30:16.335" v="211" actId="14100"/>
          <ac:spMkLst>
            <pc:docMk/>
            <pc:sldMk cId="687369901" sldId="265"/>
            <ac:spMk id="2" creationId="{60A53D43-807B-6455-E8C6-9930FD36C82D}"/>
          </ac:spMkLst>
        </pc:spChg>
        <pc:spChg chg="mod">
          <ac:chgData name="Anjana A" userId="1055127d7e9cf8e4" providerId="LiveId" clId="{EDE53CE0-D237-4859-BC17-086AB47A71B3}" dt="2026-05-07T17:19:41.062" v="715" actId="20577"/>
          <ac:spMkLst>
            <pc:docMk/>
            <pc:sldMk cId="687369901" sldId="265"/>
            <ac:spMk id="3" creationId="{19862ADB-58AC-F95B-76F9-7ED5316899FB}"/>
          </ac:spMkLst>
        </pc:spChg>
      </pc:sldChg>
      <pc:sldChg chg="delSp modSp new mod">
        <pc:chgData name="Anjana A" userId="1055127d7e9cf8e4" providerId="LiveId" clId="{EDE53CE0-D237-4859-BC17-086AB47A71B3}" dt="2026-05-08T05:20:34.021" v="716" actId="207"/>
        <pc:sldMkLst>
          <pc:docMk/>
          <pc:sldMk cId="3217209872" sldId="266"/>
        </pc:sldMkLst>
        <pc:spChg chg="mod">
          <ac:chgData name="Anjana A" userId="1055127d7e9cf8e4" providerId="LiveId" clId="{EDE53CE0-D237-4859-BC17-086AB47A71B3}" dt="2026-05-08T05:20:34.021" v="716" actId="207"/>
          <ac:spMkLst>
            <pc:docMk/>
            <pc:sldMk cId="3217209872" sldId="266"/>
            <ac:spMk id="2" creationId="{050CD29E-4E73-79F4-2A50-5222B4764157}"/>
          </ac:spMkLst>
        </pc:spChg>
      </pc:sldChg>
      <pc:sldChg chg="addSp delSp modSp new mod ord">
        <pc:chgData name="Anjana A" userId="1055127d7e9cf8e4" providerId="LiveId" clId="{EDE53CE0-D237-4859-BC17-086AB47A71B3}" dt="2026-05-07T14:18:50.814" v="695" actId="478"/>
        <pc:sldMkLst>
          <pc:docMk/>
          <pc:sldMk cId="1439174794" sldId="267"/>
        </pc:sldMkLst>
        <pc:spChg chg="mod">
          <ac:chgData name="Anjana A" userId="1055127d7e9cf8e4" providerId="LiveId" clId="{EDE53CE0-D237-4859-BC17-086AB47A71B3}" dt="2026-05-07T14:18:19.255" v="691" actId="1076"/>
          <ac:spMkLst>
            <pc:docMk/>
            <pc:sldMk cId="1439174794" sldId="267"/>
            <ac:spMk id="2" creationId="{D0B31BC3-0F6A-C4D0-9352-127FD5ACF927}"/>
          </ac:spMkLst>
        </pc:spChg>
        <pc:spChg chg="del">
          <ac:chgData name="Anjana A" userId="1055127d7e9cf8e4" providerId="LiveId" clId="{EDE53CE0-D237-4859-BC17-086AB47A71B3}" dt="2026-05-07T13:58:47.429" v="447" actId="478"/>
          <ac:spMkLst>
            <pc:docMk/>
            <pc:sldMk cId="1439174794" sldId="267"/>
            <ac:spMk id="3" creationId="{E36246DC-2671-7489-5B84-16A31AA68460}"/>
          </ac:spMkLst>
        </pc:spChg>
        <pc:spChg chg="add del mod">
          <ac:chgData name="Anjana A" userId="1055127d7e9cf8e4" providerId="LiveId" clId="{EDE53CE0-D237-4859-BC17-086AB47A71B3}" dt="2026-05-07T14:18:50.814" v="695" actId="478"/>
          <ac:spMkLst>
            <pc:docMk/>
            <pc:sldMk cId="1439174794" sldId="267"/>
            <ac:spMk id="4" creationId="{86999A8A-B701-D5B0-3C8E-6987D49652D2}"/>
          </ac:spMkLst>
        </pc:spChg>
      </pc:sldChg>
      <pc:sldChg chg="new del">
        <pc:chgData name="Anjana A" userId="1055127d7e9cf8e4" providerId="LiveId" clId="{EDE53CE0-D237-4859-BC17-086AB47A71B3}" dt="2026-05-08T08:44:17.940" v="718" actId="680"/>
        <pc:sldMkLst>
          <pc:docMk/>
          <pc:sldMk cId="348385165" sldId="26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A9D84A-8591-442A-A641-46BCF7A2D536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3122F4-5E9A-4A34-B9EA-F37FE8958F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0228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3122F4-5E9A-4A34-B9EA-F37FE8958F28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39630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A28CF-A85B-8C4E-31AB-897BA4D7A5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C67B9D-401C-4027-089C-0163C94583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EFFF81-BDD5-4B18-3F33-303A578C1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1F8B2-959A-4781-BD63-49217CCC0D01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360FCA-C36C-92B9-2A1C-BE0D56DE7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4FCCC0-1472-11AF-E18D-CC26B8218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15A34-E14C-4550-B12B-8B54EDA7C1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37929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7FA41-DF28-06BC-DFA7-1CB6D4088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77D625-91AE-21AE-4D93-B0E8833420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4FA4C6-4BCF-0CFF-B164-A27E69150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1F8B2-959A-4781-BD63-49217CCC0D01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82637-8D58-403A-D146-4C1EA4A7D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F26663-1246-AC43-8E68-70BFD0731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15A34-E14C-4550-B12B-8B54EDA7C1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0893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DA14F-7C11-0E7E-2F2A-E613829D33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42CF04-ED89-1C4C-C019-F6C530D2BC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240062-F534-8243-30D8-D60791B49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1F8B2-959A-4781-BD63-49217CCC0D01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2178D1-0878-42E1-B3A1-BFAF1E939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C465CA-83CA-8CDE-0E43-D962AD65B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15A34-E14C-4550-B12B-8B54EDA7C1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87334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9602B-A4B9-DF5C-F02E-010A0A05B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6825FE-5BAD-BBEB-9264-A6CCBB015B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D687BF-A376-6D39-CB4A-08C0C13BD3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1D8827-C05B-F588-9A79-E689E50F6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1F8B2-959A-4781-BD63-49217CCC0D01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552FE1-6774-AF55-E579-8024B10FF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E4E211-6630-033B-4852-D4E02BCBF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15A34-E14C-4550-B12B-8B54EDA7C1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8000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F81DB-5742-8062-33F1-78C1E4DF47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5B5E6B-0B03-B85F-8BBE-2C196564A8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839288-BCBA-EF76-8B0E-C90B7A00BD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09C8BA-A2D0-6714-D953-F86849CFCE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B07BCF-ECE8-7BEE-72CE-E3429BB755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EEC29A5-B56E-3FC3-5878-7423AA055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1F8B2-959A-4781-BD63-49217CCC0D01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630287-A464-8030-B9C6-8DBA0EAF1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DAE7DA-E4E3-DED1-370F-C4E5C3E87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15A34-E14C-4550-B12B-8B54EDA7C1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44822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2EBDF-CA1F-D63F-0657-87ACFA56C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DD0C00-F0D0-7657-8DD8-E6172C9A0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1F8B2-959A-4781-BD63-49217CCC0D01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1215C1-14C8-8C86-71F6-F1AB5CE00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BC2E4A-05C7-B2E5-9B6E-BF2C3EF02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15A34-E14C-4550-B12B-8B54EDA7C1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94673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EC5FA5-237A-FCF6-2500-B1254822F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1F8B2-959A-4781-BD63-49217CCC0D01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9FC5A1-6A94-7AE5-EBA0-E015865F6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CAB02C-2976-2C45-0A8A-20093FB1E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15A34-E14C-4550-B12B-8B54EDA7C1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67679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2C5A1-734A-D3D7-A1B7-BD30AAF53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BC02C0-196E-E4A3-59D5-ED5DD0CD3F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8B8D74-F265-74C7-7CD4-AD035B545A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B31660-5F65-22A8-A58A-6BB787B05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1F8B2-959A-4781-BD63-49217CCC0D01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1C5A5A-38C0-D8BF-E6A7-805D60186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9EFDE6-8A36-A0C8-716D-50FA1FEBA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15A34-E14C-4550-B12B-8B54EDA7C1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2361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8A259-B97A-96EA-0E4E-D6443EC98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731E9F-CF48-0AA5-0F07-087EEF6F36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660A4B-5021-3722-D1F8-7D45BB8281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1ABEA0-0791-77F9-1DCE-BCBB9A1D3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1F8B2-959A-4781-BD63-49217CCC0D01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C5FB3D-6BA5-C862-C8A2-3F0E7C6E3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0CADD1-1E85-C620-BA1E-2B3CDBE62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15A34-E14C-4550-B12B-8B54EDA7C1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9540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8B593-9FE2-0D34-7545-0A092283D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03D7DC-0FB8-37FF-2465-A58984D5B2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66D2D8-7119-B7AD-718F-9560AD893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1F8B2-959A-4781-BD63-49217CCC0D01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34695E-3ABE-FABB-DAB9-12253A108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43C078-F215-C10F-50CF-85128D640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15A34-E14C-4550-B12B-8B54EDA7C1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70465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87C0D1-B74F-1A4A-5226-845716587E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4B90A5-D9CF-2428-4E2B-B7195018AE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48083E-7E82-C482-0B8F-863D41694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1F8B2-959A-4781-BD63-49217CCC0D01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1FDB8-C532-813A-5EA1-F1A09564C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C1F6BA-297F-B949-4D3A-176F8785E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15A34-E14C-4550-B12B-8B54EDA7C1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90256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31F0A2-EB0F-38DB-FA45-AA3A820CC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1E970A-10B7-6739-A609-639EB4ED80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8A0523-262C-367C-4F32-6E18B5FAC1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C1F8B2-959A-4781-BD63-49217CCC0D01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A416F4-B96A-070C-6165-8ABD1BA1A6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18079F-5EF2-59AC-DF41-C8A678B9CB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615A34-E14C-4550-B12B-8B54EDA7C1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6184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6F4F60D-7569-0012-5670-7927011EB023}"/>
              </a:ext>
            </a:extLst>
          </p:cNvPr>
          <p:cNvSpPr txBox="1"/>
          <p:nvPr/>
        </p:nvSpPr>
        <p:spPr>
          <a:xfrm>
            <a:off x="5638800" y="2733368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A6D04D-A3B3-1DD2-B53C-A7239DA7D51C}"/>
              </a:ext>
            </a:extLst>
          </p:cNvPr>
          <p:cNvSpPr txBox="1"/>
          <p:nvPr/>
        </p:nvSpPr>
        <p:spPr>
          <a:xfrm>
            <a:off x="2959510" y="2900516"/>
            <a:ext cx="24187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b="1" dirty="0">
              <a:solidFill>
                <a:srgbClr val="FFFF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DBEC61D-4B15-31FC-A676-50C6B6FFA0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305615" cy="6858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060AF2D-B709-86B3-8BE5-4C55AF595DAD}"/>
              </a:ext>
            </a:extLst>
          </p:cNvPr>
          <p:cNvSpPr txBox="1"/>
          <p:nvPr/>
        </p:nvSpPr>
        <p:spPr>
          <a:xfrm>
            <a:off x="1371597" y="2023353"/>
            <a:ext cx="944880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5400" b="1" dirty="0" err="1">
                <a:solidFill>
                  <a:schemeClr val="bg1"/>
                </a:solidFill>
                <a:latin typeface="Engravers MT" panose="02090707080505020304" pitchFamily="18" charset="0"/>
              </a:rPr>
              <a:t>BangAlore</a:t>
            </a:r>
            <a:r>
              <a:rPr lang="en-IN" sz="5400" b="1" dirty="0">
                <a:solidFill>
                  <a:schemeClr val="bg1"/>
                </a:solidFill>
                <a:latin typeface="Engravers MT" panose="02090707080505020304" pitchFamily="18" charset="0"/>
              </a:rPr>
              <a:t> Traffic Analysis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13FE7D-1023-7FD5-3C3C-24B9591DB7E1}"/>
              </a:ext>
            </a:extLst>
          </p:cNvPr>
          <p:cNvSpPr txBox="1"/>
          <p:nvPr/>
        </p:nvSpPr>
        <p:spPr>
          <a:xfrm>
            <a:off x="4168877" y="4800802"/>
            <a:ext cx="370676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spc="-300" dirty="0">
                <a:solidFill>
                  <a:schemeClr val="bg1"/>
                </a:solidFill>
                <a:latin typeface="Engravers MT" panose="02090707080505020304" pitchFamily="18" charset="0"/>
              </a:rPr>
              <a:t>by</a:t>
            </a:r>
          </a:p>
          <a:p>
            <a:pPr algn="ctr"/>
            <a:r>
              <a:rPr lang="en-IN" sz="3600" b="1" spc="-300" dirty="0">
                <a:solidFill>
                  <a:schemeClr val="bg1"/>
                </a:solidFill>
                <a:latin typeface="Engravers MT" panose="02090707080505020304" pitchFamily="18" charset="0"/>
              </a:rPr>
              <a:t>Anjana  A</a:t>
            </a:r>
          </a:p>
        </p:txBody>
      </p:sp>
    </p:spTree>
    <p:extLst>
      <p:ext uri="{BB962C8B-B14F-4D97-AF65-F5344CB8AC3E}">
        <p14:creationId xmlns:p14="http://schemas.microsoft.com/office/powerpoint/2010/main" val="31313827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34B32A-5038-0059-8B7A-C8A579586C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2826"/>
            <a:ext cx="10515600" cy="4713262"/>
          </a:xfrm>
        </p:spPr>
        <p:txBody>
          <a:bodyPr/>
          <a:lstStyle/>
          <a:p>
            <a:pPr algn="just"/>
            <a:r>
              <a:rPr lang="en-US" b="1" u="sng" dirty="0">
                <a:solidFill>
                  <a:srgbClr val="FF0000"/>
                </a:solidFill>
              </a:rPr>
              <a:t>The Primary Objective:</a:t>
            </a:r>
            <a:r>
              <a:rPr lang="en-US" u="sng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002060"/>
                </a:solidFill>
              </a:rPr>
              <a:t>To analyze raw, real-world urban mobility data to identify the root causes of traffic congestion in Bangalore and provide data-driven, actionable recommendations for infrastructure and traffic management.</a:t>
            </a:r>
          </a:p>
          <a:p>
            <a:pPr marL="0" indent="0">
              <a:buNone/>
            </a:pPr>
            <a:endParaRPr lang="en-US" dirty="0"/>
          </a:p>
          <a:p>
            <a:pPr algn="just"/>
            <a:r>
              <a:rPr lang="en-US" b="1" u="sng" dirty="0">
                <a:solidFill>
                  <a:srgbClr val="FF0000"/>
                </a:solidFill>
              </a:rPr>
              <a:t>The Technical Objective (Portfolio Goal):</a:t>
            </a:r>
            <a:r>
              <a:rPr lang="en-US" u="sng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002060"/>
                </a:solidFill>
              </a:rPr>
              <a:t>To demonstrate a complete, </a:t>
            </a:r>
            <a:r>
              <a:rPr lang="en-US" b="1" dirty="0">
                <a:solidFill>
                  <a:srgbClr val="002060"/>
                </a:solidFill>
              </a:rPr>
              <a:t>End-to-End Data Analytics Workflow, </a:t>
            </a:r>
            <a:r>
              <a:rPr lang="en-US" dirty="0" err="1">
                <a:solidFill>
                  <a:srgbClr val="002060"/>
                </a:solidFill>
              </a:rPr>
              <a:t>ie</a:t>
            </a:r>
            <a:r>
              <a:rPr lang="en-US" dirty="0">
                <a:solidFill>
                  <a:srgbClr val="002060"/>
                </a:solidFill>
              </a:rPr>
              <a:t>, selected a "dirty" dataset, clean it using Python, uncover hidden patterns using statistical analysis (EDA) &amp; translate those findings into a visually compelling, interactive story using Business Intelligence tool (Power BI).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B873B3-FFAD-C688-5C3D-843D06A66C29}"/>
              </a:ext>
            </a:extLst>
          </p:cNvPr>
          <p:cNvSpPr txBox="1"/>
          <p:nvPr/>
        </p:nvSpPr>
        <p:spPr>
          <a:xfrm>
            <a:off x="838200" y="551912"/>
            <a:ext cx="23204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B050"/>
                </a:solidFill>
                <a:latin typeface="Book Antiqua" panose="02040602050305030304" pitchFamily="18" charset="0"/>
              </a:rPr>
              <a:t>Objectives:</a:t>
            </a:r>
            <a:endParaRPr lang="en-IN" dirty="0">
              <a:solidFill>
                <a:srgbClr val="00B050"/>
              </a:solidFill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94525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6868B-7A03-A959-90E9-136558D5A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1381" y="681038"/>
            <a:ext cx="3812458" cy="775417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rgbClr val="00B050"/>
                </a:solidFill>
                <a:latin typeface="Book Antiqua" panose="02040602050305030304" pitchFamily="18" charset="0"/>
              </a:rPr>
              <a:t>Data set: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EABF8F-0995-35DA-67C8-4FAAFBAE9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1381" y="1917289"/>
            <a:ext cx="9960078" cy="42596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>
                <a:solidFill>
                  <a:srgbClr val="002060"/>
                </a:solidFill>
              </a:rPr>
              <a:t>Bangalore traffic raw data set from Kaggle platform.</a:t>
            </a:r>
          </a:p>
          <a:p>
            <a:pPr marL="0" indent="0">
              <a:buNone/>
            </a:pPr>
            <a:endParaRPr lang="en-IN" dirty="0">
              <a:solidFill>
                <a:srgbClr val="002060"/>
              </a:solidFill>
            </a:endParaRPr>
          </a:p>
          <a:p>
            <a:pPr algn="just"/>
            <a:r>
              <a:rPr lang="en-IN" b="1" u="sng" dirty="0">
                <a:solidFill>
                  <a:srgbClr val="002060"/>
                </a:solidFill>
              </a:rPr>
              <a:t>Environment:</a:t>
            </a:r>
            <a:r>
              <a:rPr lang="en-IN" b="1" dirty="0">
                <a:solidFill>
                  <a:srgbClr val="002060"/>
                </a:solidFill>
              </a:rPr>
              <a:t> </a:t>
            </a:r>
            <a:r>
              <a:rPr lang="en-IN" dirty="0">
                <a:solidFill>
                  <a:srgbClr val="002060"/>
                </a:solidFill>
              </a:rPr>
              <a:t>Behavioural and infrastructure metrics and multi-dimensional view of urban mobility in Bangalore.</a:t>
            </a:r>
          </a:p>
          <a:p>
            <a:r>
              <a:rPr lang="en-IN" b="1" u="sng" dirty="0">
                <a:solidFill>
                  <a:srgbClr val="002060"/>
                </a:solidFill>
              </a:rPr>
              <a:t>Variety:</a:t>
            </a:r>
            <a:r>
              <a:rPr lang="en-IN" b="1" dirty="0">
                <a:solidFill>
                  <a:srgbClr val="002060"/>
                </a:solidFill>
              </a:rPr>
              <a:t> </a:t>
            </a:r>
            <a:r>
              <a:rPr lang="en-IN" dirty="0">
                <a:solidFill>
                  <a:srgbClr val="002060"/>
                </a:solidFill>
              </a:rPr>
              <a:t>Categorical data (locations), continuous numerical data (speed, volume), and time-series data (dates).</a:t>
            </a:r>
          </a:p>
          <a:p>
            <a:r>
              <a:rPr lang="en-IN" b="1" u="sng" dirty="0">
                <a:solidFill>
                  <a:srgbClr val="002060"/>
                </a:solidFill>
              </a:rPr>
              <a:t>Volume:</a:t>
            </a:r>
            <a:r>
              <a:rPr lang="en-IN" b="1" dirty="0">
                <a:solidFill>
                  <a:srgbClr val="002060"/>
                </a:solidFill>
              </a:rPr>
              <a:t> </a:t>
            </a:r>
            <a:r>
              <a:rPr lang="en-IN" dirty="0">
                <a:solidFill>
                  <a:srgbClr val="002060"/>
                </a:solidFill>
              </a:rPr>
              <a:t>16 comprehensive columns of mobility data.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726369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6BE35-9054-324B-9500-EF29289D1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4176" y="934064"/>
            <a:ext cx="1531374" cy="776288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rgbClr val="00B050"/>
                </a:solidFill>
                <a:latin typeface="Book Antiqua" panose="02040602050305030304" pitchFamily="18" charset="0"/>
              </a:rPr>
              <a:t>Aim: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E5595B-6CAD-2DBD-4659-09495950D1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95488"/>
            <a:ext cx="10515600" cy="3407337"/>
          </a:xfrm>
        </p:spPr>
        <p:txBody>
          <a:bodyPr>
            <a:normAutofit/>
          </a:bodyPr>
          <a:lstStyle/>
          <a:p>
            <a:pPr lvl="0" algn="just">
              <a:buFont typeface="Wingdings" panose="05000000000000000000" pitchFamily="2" charset="2"/>
              <a:buChar char="ü"/>
            </a:pPr>
            <a:r>
              <a:rPr lang="en-IN" dirty="0">
                <a:solidFill>
                  <a:srgbClr val="002060"/>
                </a:solidFill>
              </a:rPr>
              <a:t> To </a:t>
            </a:r>
            <a:r>
              <a:rPr lang="en-IN" dirty="0" err="1">
                <a:solidFill>
                  <a:srgbClr val="002060"/>
                </a:solidFill>
              </a:rPr>
              <a:t>analyze</a:t>
            </a:r>
            <a:r>
              <a:rPr lang="en-IN" dirty="0">
                <a:solidFill>
                  <a:srgbClr val="002060"/>
                </a:solidFill>
              </a:rPr>
              <a:t> raw, real-world urban mobility data to identify the root causes of traffic congestion in Bangalore and provide data-driven, actionable recommendations for infrastructure and traffic management.</a:t>
            </a:r>
          </a:p>
          <a:p>
            <a:pPr marL="0" lvl="0" indent="0" algn="just">
              <a:buNone/>
            </a:pPr>
            <a:endParaRPr lang="en-IN" dirty="0">
              <a:solidFill>
                <a:srgbClr val="002060"/>
              </a:solidFill>
            </a:endParaRPr>
          </a:p>
          <a:p>
            <a:pPr lvl="0" algn="just">
              <a:buFont typeface="Wingdings" panose="05000000000000000000" pitchFamily="2" charset="2"/>
              <a:buChar char="ü"/>
            </a:pPr>
            <a:r>
              <a:rPr lang="en-IN" dirty="0">
                <a:solidFill>
                  <a:srgbClr val="002060"/>
                </a:solidFill>
              </a:rPr>
              <a:t>Instead of just saying "Bangalore has bad traffic," the aim is to prove </a:t>
            </a:r>
            <a:r>
              <a:rPr lang="en-IN" i="1" dirty="0">
                <a:solidFill>
                  <a:srgbClr val="C00000"/>
                </a:solidFill>
              </a:rPr>
              <a:t>why</a:t>
            </a:r>
            <a:r>
              <a:rPr lang="en-IN" dirty="0">
                <a:solidFill>
                  <a:srgbClr val="C00000"/>
                </a:solidFill>
              </a:rPr>
              <a:t> and </a:t>
            </a:r>
            <a:r>
              <a:rPr lang="en-IN" i="1" dirty="0">
                <a:solidFill>
                  <a:srgbClr val="C00000"/>
                </a:solidFill>
              </a:rPr>
              <a:t>when</a:t>
            </a:r>
            <a:r>
              <a:rPr lang="en-IN" dirty="0">
                <a:solidFill>
                  <a:srgbClr val="002060"/>
                </a:solidFill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6326947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31BC3-0F6A-C4D0-9352-127FD5ACF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25993"/>
            <a:ext cx="10515600" cy="1406013"/>
          </a:xfrm>
        </p:spPr>
        <p:txBody>
          <a:bodyPr>
            <a:normAutofit/>
          </a:bodyPr>
          <a:lstStyle/>
          <a:p>
            <a:pPr algn="ctr"/>
            <a:r>
              <a:rPr lang="en-IN" sz="4800" b="1" dirty="0">
                <a:solidFill>
                  <a:srgbClr val="FF0000"/>
                </a:solidFill>
                <a:latin typeface="Book Antiqua" panose="02040602050305030304" pitchFamily="18" charset="0"/>
              </a:rPr>
              <a:t>Data cleaning &amp; Analysis</a:t>
            </a:r>
          </a:p>
        </p:txBody>
      </p:sp>
    </p:spTree>
    <p:extLst>
      <p:ext uri="{BB962C8B-B14F-4D97-AF65-F5344CB8AC3E}">
        <p14:creationId xmlns:p14="http://schemas.microsoft.com/office/powerpoint/2010/main" val="14391747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32519-6B76-8BDF-BFFE-71990A195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21756"/>
            <a:ext cx="10515600" cy="1614488"/>
          </a:xfrm>
        </p:spPr>
        <p:txBody>
          <a:bodyPr>
            <a:normAutofit/>
          </a:bodyPr>
          <a:lstStyle/>
          <a:p>
            <a:pPr algn="ctr"/>
            <a:r>
              <a:rPr lang="en-IN" sz="8800" dirty="0">
                <a:solidFill>
                  <a:schemeClr val="accent5">
                    <a:lumMod val="75000"/>
                  </a:schemeClr>
                </a:solidFill>
                <a:latin typeface="Algerian" panose="04020705040A02060702" pitchFamily="82" charset="0"/>
              </a:rPr>
              <a:t>The Final Verdict</a:t>
            </a:r>
          </a:p>
        </p:txBody>
      </p:sp>
    </p:spTree>
    <p:extLst>
      <p:ext uri="{BB962C8B-B14F-4D97-AF65-F5344CB8AC3E}">
        <p14:creationId xmlns:p14="http://schemas.microsoft.com/office/powerpoint/2010/main" val="37163016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BB5C1-D322-FE2F-08C6-FD4520C38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93057"/>
            <a:ext cx="10515600" cy="786582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rgbClr val="00B050"/>
                </a:solidFill>
                <a:latin typeface="Book Antiqua" panose="02040602050305030304" pitchFamily="18" charset="0"/>
              </a:rPr>
              <a:t>The Mid-Week Surge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841EAA-BDA4-9EAB-5DC4-88C972A6A0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53265"/>
            <a:ext cx="10515600" cy="4023698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</a:rPr>
              <a:t>Wednesday: The Peak of Urban Pressure</a:t>
            </a:r>
          </a:p>
          <a:p>
            <a:r>
              <a:rPr lang="en-US" dirty="0">
                <a:solidFill>
                  <a:srgbClr val="7030A0"/>
                </a:solidFill>
              </a:rPr>
              <a:t>Traffic volume peaks mid-week at an average of </a:t>
            </a:r>
            <a:r>
              <a:rPr lang="en-US" b="1" dirty="0">
                <a:solidFill>
                  <a:srgbClr val="7030A0"/>
                </a:solidFill>
              </a:rPr>
              <a:t>34,506 vehicles</a:t>
            </a:r>
            <a:r>
              <a:rPr lang="en-US" dirty="0">
                <a:solidFill>
                  <a:srgbClr val="7030A0"/>
                </a:solidFill>
              </a:rPr>
              <a:t>.</a:t>
            </a:r>
          </a:p>
          <a:p>
            <a:r>
              <a:rPr lang="en-US" dirty="0">
                <a:solidFill>
                  <a:srgbClr val="7030A0"/>
                </a:solidFill>
              </a:rPr>
              <a:t>Wednesday is significantly busier than weekends, suggesting a commercial-heavy traffic profile.</a:t>
            </a:r>
          </a:p>
          <a:p>
            <a:pPr marL="0" indent="0">
              <a:buNone/>
            </a:pPr>
            <a:endParaRPr lang="en-US" dirty="0">
              <a:solidFill>
                <a:srgbClr val="7030A0"/>
              </a:solidFill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b="1" dirty="0">
                <a:solidFill>
                  <a:srgbClr val="002060"/>
                </a:solidFill>
              </a:rPr>
              <a:t> </a:t>
            </a:r>
            <a:r>
              <a:rPr lang="en-US" b="1" u="sng" dirty="0">
                <a:solidFill>
                  <a:srgbClr val="002060"/>
                </a:solidFill>
              </a:rPr>
              <a:t>Recommendation:</a:t>
            </a:r>
            <a:r>
              <a:rPr lang="en-US" dirty="0">
                <a:solidFill>
                  <a:srgbClr val="002060"/>
                </a:solidFill>
              </a:rPr>
              <a:t> </a:t>
            </a:r>
            <a:r>
              <a:rPr lang="en-US" dirty="0">
                <a:solidFill>
                  <a:srgbClr val="7030A0"/>
                </a:solidFill>
              </a:rPr>
              <a:t>Align traffic police shifts and public transit frequency to "Tues-Wed-Thurs" rather than just the traditional Monday/Friday rush.</a:t>
            </a:r>
          </a:p>
          <a:p>
            <a:pPr marL="0" indent="0">
              <a:buNone/>
            </a:pPr>
            <a:endParaRPr lang="en-IN" dirty="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IN" dirty="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IN" dirty="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IN" dirty="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IN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85014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A1D87-0AB5-6859-B04D-005CA999B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8"/>
            <a:ext cx="10515600" cy="1009650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rgbClr val="00B050"/>
                </a:solidFill>
                <a:latin typeface="Book Antiqua" panose="02040602050305030304" pitchFamily="18" charset="0"/>
              </a:rPr>
              <a:t>Regional Vulnerability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A6F5BA-1080-353C-2779-1259F82AF6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86115"/>
            <a:ext cx="10515600" cy="4190847"/>
          </a:xfrm>
        </p:spPr>
        <p:txBody>
          <a:bodyPr/>
          <a:lstStyle/>
          <a:p>
            <a:r>
              <a:rPr lang="en-IN" dirty="0">
                <a:solidFill>
                  <a:srgbClr val="7030A0"/>
                </a:solidFill>
              </a:rPr>
              <a:t>Infrastructure Bottlenecks: Koramangala &amp; M.G. Road</a:t>
            </a:r>
          </a:p>
          <a:p>
            <a:r>
              <a:rPr lang="en-US" dirty="0">
                <a:solidFill>
                  <a:srgbClr val="7030A0"/>
                </a:solidFill>
              </a:rPr>
              <a:t>These two areas consistently show the highest "Congestion Levels" on the map.</a:t>
            </a:r>
          </a:p>
          <a:p>
            <a:r>
              <a:rPr lang="en-US" dirty="0">
                <a:solidFill>
                  <a:srgbClr val="7030A0"/>
                </a:solidFill>
              </a:rPr>
              <a:t>Traffic here is "Inelastic," meaning it doesn't drop significantly even when speeds fall.</a:t>
            </a:r>
          </a:p>
          <a:p>
            <a:endParaRPr lang="en-US" dirty="0">
              <a:solidFill>
                <a:srgbClr val="7030A0"/>
              </a:solidFill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b="1" dirty="0">
                <a:solidFill>
                  <a:srgbClr val="002060"/>
                </a:solidFill>
              </a:rPr>
              <a:t> </a:t>
            </a:r>
            <a:r>
              <a:rPr lang="en-US" b="1" u="sng" dirty="0">
                <a:solidFill>
                  <a:srgbClr val="002060"/>
                </a:solidFill>
              </a:rPr>
              <a:t>Recommendation:</a:t>
            </a:r>
            <a:r>
              <a:rPr lang="en-US" dirty="0">
                <a:solidFill>
                  <a:srgbClr val="002060"/>
                </a:solidFill>
              </a:rPr>
              <a:t> </a:t>
            </a:r>
            <a:r>
              <a:rPr lang="en-US" dirty="0">
                <a:solidFill>
                  <a:srgbClr val="7030A0"/>
                </a:solidFill>
              </a:rPr>
              <a:t>Prioritize these zones for "Smart Signal" technology and intersection redesign to prevent city-wide spillover effects.</a:t>
            </a:r>
            <a:endParaRPr lang="en-IN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89175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8C458-5A08-992E-6F10-D76DDB6A4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8"/>
            <a:ext cx="10515600" cy="1009650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rgbClr val="00B050"/>
                </a:solidFill>
                <a:latin typeface="Book Antiqua" panose="02040602050305030304" pitchFamily="18" charset="0"/>
              </a:rPr>
              <a:t>The Weather-Safety Link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05B931-6D2D-0401-85CD-236BE67848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17289"/>
            <a:ext cx="10515600" cy="4259673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</a:rPr>
              <a:t>Weather as a System Disruptor</a:t>
            </a:r>
          </a:p>
          <a:p>
            <a:r>
              <a:rPr lang="en-US" dirty="0">
                <a:solidFill>
                  <a:srgbClr val="7030A0"/>
                </a:solidFill>
              </a:rPr>
              <a:t>60% of high-speed travel occurs in "Clear" weather, but "Rain" causes an immediate 30-40% drop in speed.</a:t>
            </a:r>
          </a:p>
          <a:p>
            <a:r>
              <a:rPr lang="en-US" dirty="0">
                <a:solidFill>
                  <a:srgbClr val="7030A0"/>
                </a:solidFill>
              </a:rPr>
              <a:t>Incident reports spike disproportionately during Fog and Rain.</a:t>
            </a:r>
          </a:p>
          <a:p>
            <a:endParaRPr lang="en-US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b="1" dirty="0">
                <a:solidFill>
                  <a:srgbClr val="002060"/>
                </a:solidFill>
              </a:rPr>
              <a:t> </a:t>
            </a:r>
            <a:r>
              <a:rPr lang="en-US" b="1" u="sng" dirty="0">
                <a:solidFill>
                  <a:srgbClr val="002060"/>
                </a:solidFill>
              </a:rPr>
              <a:t>Recommendation:</a:t>
            </a:r>
            <a:r>
              <a:rPr lang="en-US" dirty="0">
                <a:solidFill>
                  <a:srgbClr val="002060"/>
                </a:solidFill>
              </a:rPr>
              <a:t> </a:t>
            </a:r>
            <a:r>
              <a:rPr lang="en-US" dirty="0">
                <a:solidFill>
                  <a:srgbClr val="7030A0"/>
                </a:solidFill>
              </a:rPr>
              <a:t>Implement weather-responsive speed limits and real-time "Hazard Warning" digital signage at major junctions.</a:t>
            </a:r>
            <a:endParaRPr lang="en-IN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80862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53D43-807B-6455-E8C6-9930FD36C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8"/>
            <a:ext cx="10515600" cy="1009650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rgbClr val="00B050"/>
                </a:solidFill>
                <a:latin typeface="Book Antiqua" panose="02040602050305030304" pitchFamily="18" charset="0"/>
              </a:rPr>
              <a:t>The Silent Majority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862ADB-58AC-F95B-76F9-7ED5316899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86115"/>
            <a:ext cx="10515600" cy="4190847"/>
          </a:xfrm>
        </p:spPr>
        <p:txBody>
          <a:bodyPr/>
          <a:lstStyle/>
          <a:p>
            <a:r>
              <a:rPr lang="it-IT" dirty="0">
                <a:solidFill>
                  <a:srgbClr val="7030A0"/>
                </a:solidFill>
              </a:rPr>
              <a:t>Multimodal Potential: 683,000 Non-Motorized Users</a:t>
            </a:r>
          </a:p>
          <a:p>
            <a:r>
              <a:rPr lang="en-US" dirty="0">
                <a:solidFill>
                  <a:srgbClr val="7030A0"/>
                </a:solidFill>
              </a:rPr>
              <a:t>Data reveals a massive </a:t>
            </a:r>
            <a:r>
              <a:rPr lang="en-US" b="1" dirty="0">
                <a:solidFill>
                  <a:srgbClr val="7030A0"/>
                </a:solidFill>
              </a:rPr>
              <a:t>683K Pedestrian &amp; Cyclist Count</a:t>
            </a:r>
            <a:r>
              <a:rPr lang="en-US" dirty="0">
                <a:solidFill>
                  <a:srgbClr val="7030A0"/>
                </a:solidFill>
              </a:rPr>
              <a:t>, proving demand for alternative transport exists.</a:t>
            </a:r>
          </a:p>
          <a:p>
            <a:r>
              <a:rPr lang="en-US" dirty="0">
                <a:solidFill>
                  <a:srgbClr val="7030A0"/>
                </a:solidFill>
              </a:rPr>
              <a:t>Current congestion is vehicle-driven, but it depends on these non-motorized users.</a:t>
            </a:r>
          </a:p>
          <a:p>
            <a:endParaRPr lang="en-US" dirty="0">
              <a:solidFill>
                <a:srgbClr val="7030A0"/>
              </a:solidFill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b="1" dirty="0">
                <a:solidFill>
                  <a:srgbClr val="002060"/>
                </a:solidFill>
              </a:rPr>
              <a:t> </a:t>
            </a:r>
            <a:r>
              <a:rPr lang="en-US" b="1" u="sng" dirty="0">
                <a:solidFill>
                  <a:srgbClr val="002060"/>
                </a:solidFill>
              </a:rPr>
              <a:t>Recommendation:</a:t>
            </a:r>
            <a:r>
              <a:rPr lang="en-US" dirty="0">
                <a:solidFill>
                  <a:srgbClr val="002060"/>
                </a:solidFill>
              </a:rPr>
              <a:t> </a:t>
            </a:r>
            <a:r>
              <a:rPr lang="en-US" dirty="0">
                <a:solidFill>
                  <a:srgbClr val="7030A0"/>
                </a:solidFill>
              </a:rPr>
              <a:t>Protect this "Silent Majority" with dedicated cycle tracks and better sidewalks in high-volume areas to encourage a shift away from cars.</a:t>
            </a:r>
            <a:endParaRPr lang="en-IN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73699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CD29E-4E73-79F4-2A50-5222B47641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5112" y="2214716"/>
            <a:ext cx="8541775" cy="2428568"/>
          </a:xfrm>
        </p:spPr>
        <p:txBody>
          <a:bodyPr>
            <a:normAutofit/>
          </a:bodyPr>
          <a:lstStyle/>
          <a:p>
            <a:pPr algn="ctr"/>
            <a:r>
              <a:rPr lang="en-IN" sz="11500" dirty="0">
                <a:solidFill>
                  <a:schemeClr val="accent6">
                    <a:lumMod val="75000"/>
                  </a:schemeClr>
                </a:solidFill>
                <a:latin typeface="Algerian" panose="04020705040A02060702" pitchFamily="82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2172098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583</TotalTime>
  <Words>470</Words>
  <Application>Microsoft Office PowerPoint</Application>
  <PresentationFormat>Widescreen</PresentationFormat>
  <Paragraphs>48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Algerian</vt:lpstr>
      <vt:lpstr>Arial</vt:lpstr>
      <vt:lpstr>Book Antiqua</vt:lpstr>
      <vt:lpstr>Calibri</vt:lpstr>
      <vt:lpstr>Calibri Light</vt:lpstr>
      <vt:lpstr>Engravers MT</vt:lpstr>
      <vt:lpstr>Wingdings</vt:lpstr>
      <vt:lpstr>Office Theme</vt:lpstr>
      <vt:lpstr>PowerPoint Presentation</vt:lpstr>
      <vt:lpstr>PowerPoint Presentation</vt:lpstr>
      <vt:lpstr>Data set:</vt:lpstr>
      <vt:lpstr>Aim:</vt:lpstr>
      <vt:lpstr>Data cleaning &amp; Analysis</vt:lpstr>
      <vt:lpstr>The Final Verdict</vt:lpstr>
      <vt:lpstr>The Mid-Week Surge</vt:lpstr>
      <vt:lpstr>Regional Vulnerability</vt:lpstr>
      <vt:lpstr>The Weather-Safety Link</vt:lpstr>
      <vt:lpstr>The Silent Majority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Anjana A</dc:creator>
  <cp:lastModifiedBy>Anjana A</cp:lastModifiedBy>
  <cp:revision>2</cp:revision>
  <dcterms:created xsi:type="dcterms:W3CDTF">2026-04-23T17:35:41Z</dcterms:created>
  <dcterms:modified xsi:type="dcterms:W3CDTF">2026-05-08T11:43:29Z</dcterms:modified>
</cp:coreProperties>
</file>